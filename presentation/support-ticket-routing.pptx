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convaiinnovations/lay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85216"/>
            <a:ext cx="10881360" cy="5650992"/>
          </a:xfrm>
          <a:prstGeom prst="roundRect">
            <a:avLst/>
          </a:prstGeom>
          <a:solidFill>
            <a:srgbClr val="214247"/>
          </a:solidFill>
          <a:ln w="10160">
            <a:solidFill>
              <a:srgbClr val="214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950976"/>
            <a:ext cx="98755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9EBE2A"/>
                </a:solidFill>
                <a:latin typeface="Aptos"/>
              </a:defRPr>
            </a:pPr>
            <a:r>
              <a:t>ДОСЛІДЖЕННЯ В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517904"/>
            <a:ext cx="9784080" cy="1325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Класифікація звернень</a:t>
            </a:r>
          </a:p>
          <a:p>
            <a:pPr algn="l">
              <a:spcAft>
                <a:spcPts val="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за допомогою Laya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27248"/>
            <a:ext cx="9692640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E0EAE7"/>
                </a:solidFill>
                <a:latin typeface="Aptos"/>
              </a:defRPr>
            </a:pPr>
            <a:r>
              <a:t>Як короткі описи категорій допомагають моделі точніше направляти повідомлення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15968"/>
            <a:ext cx="1828800" cy="54864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08576"/>
            <a:ext cx="905256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Від простої базової моделі до перевірки на нових зверненнях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МОТИВАЦІЯ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Чому я обрав Laya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1033272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C2C33"/>
                </a:solidFill>
                <a:latin typeface="Aptos"/>
              </a:defRPr>
            </a:pPr>
            <a:r>
              <a:t>Jev привернула увагу спільноти до моделей, які одразу приймають рішення замість генерації довгої відповіді.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4600"/>
            <a:ext cx="3127248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26464" y="2761488"/>
            <a:ext cx="1773936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2816352"/>
            <a:ext cx="16276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Jev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474720"/>
            <a:ext cx="2578608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популяризувала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формат моделей рішень</a:t>
            </a:r>
          </a:p>
        </p:txBody>
      </p:sp>
      <p:sp>
        <p:nvSpPr>
          <p:cNvPr id="10" name="Chevron 9"/>
          <p:cNvSpPr/>
          <p:nvPr/>
        </p:nvSpPr>
        <p:spPr>
          <a:xfrm>
            <a:off x="3995928" y="3218688"/>
            <a:ext cx="594360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3127248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48656" y="2761488"/>
            <a:ext cx="1773936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2816352"/>
            <a:ext cx="16276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Laya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74720"/>
            <a:ext cx="2578608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відкрита модель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того самого класу</a:t>
            </a:r>
          </a:p>
        </p:txBody>
      </p:sp>
      <p:sp>
        <p:nvSpPr>
          <p:cNvPr id="15" name="Chevron 14"/>
          <p:cNvSpPr/>
          <p:nvPr/>
        </p:nvSpPr>
        <p:spPr>
          <a:xfrm>
            <a:off x="7818120" y="3218688"/>
            <a:ext cx="594360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94192" y="2514600"/>
            <a:ext cx="3127248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0848" y="2761488"/>
            <a:ext cx="1773936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816352"/>
            <a:ext cx="16276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Мій дослід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3474720"/>
            <a:ext cx="2578608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перевірка на реальних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зверненнях підтримки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19472"/>
            <a:ext cx="100584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526368"/>
                </a:solidFill>
                <a:latin typeface="Aptos"/>
              </a:defRPr>
            </a:pPr>
            <a:r>
              <a:t>Laya сумісна з форматом запитів Jev, але має власну архітектуру та ваги.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5513832"/>
            <a:ext cx="41148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7C81"/>
                </a:solidFill>
                <a:latin typeface="Aptos"/>
              </a:defRPr>
            </a:pPr>
            <a:r>
              <a:rPr u="sng">
                <a:hlinkClick r:id="rId2"/>
              </a:rPr>
              <a:t>Laya на Hugging 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ВСТУП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Практична задача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4241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C2C33"/>
                </a:solidFill>
                <a:latin typeface="Aptos"/>
              </a:defRPr>
            </a:pPr>
            <a:r>
              <a:t>Кожне повідомлення потрібно направити до правильної команди підтримки.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423160"/>
            <a:ext cx="312724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2679192"/>
            <a:ext cx="2066543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2734056"/>
            <a:ext cx="1920239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Повідомлення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615184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I need to change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my shipping address</a:t>
            </a:r>
          </a:p>
        </p:txBody>
      </p:sp>
      <p:sp>
        <p:nvSpPr>
          <p:cNvPr id="10" name="Chevron 9"/>
          <p:cNvSpPr/>
          <p:nvPr/>
        </p:nvSpPr>
        <p:spPr>
          <a:xfrm>
            <a:off x="3995928" y="3291840"/>
            <a:ext cx="594360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423160"/>
            <a:ext cx="312724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2352" y="2679192"/>
            <a:ext cx="2066543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2734056"/>
            <a:ext cx="1920239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Laya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337560"/>
            <a:ext cx="2615184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читає текст і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порівнює категорії</a:t>
            </a:r>
          </a:p>
        </p:txBody>
      </p:sp>
      <p:sp>
        <p:nvSpPr>
          <p:cNvPr id="15" name="Chevron 14"/>
          <p:cNvSpPr/>
          <p:nvPr/>
        </p:nvSpPr>
        <p:spPr>
          <a:xfrm>
            <a:off x="7818120" y="3291840"/>
            <a:ext cx="594360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94192" y="2423160"/>
            <a:ext cx="312724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24544" y="2679192"/>
            <a:ext cx="2066543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2734056"/>
            <a:ext cx="1920239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3337560"/>
            <a:ext cx="2615184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SHIPPING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зміна адреси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230368"/>
            <a:ext cx="98755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27C81"/>
                </a:solidFill>
                <a:latin typeface="Aptos"/>
              </a:defRPr>
            </a:pPr>
            <a:r>
              <a:t>Мета: зменшити ручне сортування та не плутати схожі звернення.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Що таке Laya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27632"/>
            <a:ext cx="640080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C2C33"/>
                </a:solidFill>
                <a:latin typeface="Aptos"/>
              </a:defRPr>
            </a:pPr>
            <a:r>
              <a:t>Laya отримує текст і список можливих відповідей, а потім повертає одну з них.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600200"/>
            <a:ext cx="3794760" cy="1143000"/>
          </a:xfrm>
          <a:prstGeom prst="roundRect">
            <a:avLst/>
          </a:prstGeom>
          <a:solidFill>
            <a:srgbClr val="E5EFEB"/>
          </a:solidFill>
          <a:ln w="10160">
            <a:solidFill>
              <a:srgbClr val="E5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47088"/>
            <a:ext cx="324612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127C81"/>
                </a:solidFill>
                <a:latin typeface="Aptos"/>
              </a:defRPr>
            </a:pPr>
            <a:r>
              <a:t>Готова модель</a:t>
            </a:r>
          </a:p>
          <a:p>
            <a:pPr algn="ctr">
              <a:spcAft>
                <a:spcPts val="0"/>
              </a:spcAft>
              <a:defRPr sz="1900" b="1">
                <a:solidFill>
                  <a:srgbClr val="127C81"/>
                </a:solidFill>
                <a:latin typeface="Aptos"/>
              </a:defRPr>
            </a:pPr>
            <a:r>
              <a:t>без донавчання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3364992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456432"/>
            <a:ext cx="3035808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7C81"/>
                </a:solidFill>
                <a:latin typeface="Aptos"/>
              </a:defRPr>
            </a:pPr>
            <a:r>
              <a:t>Вхід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913632"/>
            <a:ext cx="3035808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текст звернення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3246120"/>
            <a:ext cx="3364992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3456432"/>
            <a:ext cx="3035808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7C81"/>
                </a:solidFill>
                <a:latin typeface="Aptos"/>
              </a:defRPr>
            </a:pPr>
            <a:r>
              <a:t>Варіанти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3913632"/>
            <a:ext cx="3035808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назви або описи категорій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246120"/>
            <a:ext cx="3364992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3456432"/>
            <a:ext cx="3035808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7C81"/>
                </a:solidFill>
                <a:latin typeface="Aptos"/>
              </a:defRPr>
            </a:pPr>
            <a:r>
              <a:t>Вихід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913632"/>
            <a:ext cx="3035808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одна категорія підтримки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102870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526368"/>
                </a:solidFill>
                <a:latin typeface="Aptos"/>
              </a:defRPr>
            </a:pPr>
            <a:r>
              <a:t>У досліді ми змінювали пояснення категорій. Ваги моделі залишалися незмінними.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РЕАЛЬНІ ДАНІ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Які звернення бачила 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5212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37360"/>
            <a:ext cx="1325880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92224"/>
            <a:ext cx="1179576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7316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“I need to enter a different shipping address”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98064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26368"/>
                </a:solidFill>
                <a:latin typeface="Aptos"/>
              </a:defRPr>
            </a:pPr>
            <a:r>
              <a:t>зміна адреси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572768"/>
            <a:ext cx="5212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55664" y="1737360"/>
            <a:ext cx="1325880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92224"/>
            <a:ext cx="1179576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86000"/>
            <a:ext cx="477316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“checking the shipment options”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798064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26368"/>
                </a:solidFill>
                <a:latin typeface="Aptos"/>
              </a:defRPr>
            </a:pPr>
            <a:r>
              <a:t>спосіб доставки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602736"/>
            <a:ext cx="5212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767328"/>
            <a:ext cx="1325880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822191"/>
            <a:ext cx="1179576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477316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“need help to file a customer claim”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2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26368"/>
                </a:solidFill>
                <a:latin typeface="Aptos"/>
              </a:defRPr>
            </a:pPr>
            <a:r>
              <a:t>скарга клієнта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602736"/>
            <a:ext cx="52120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4" y="3767328"/>
            <a:ext cx="1325880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3822191"/>
            <a:ext cx="1179576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CANCEL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315968"/>
            <a:ext cx="4773168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“where to check the termination charges”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828032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26368"/>
                </a:solidFill>
                <a:latin typeface="Aptos"/>
              </a:defRPr>
            </a:pPr>
            <a:r>
              <a:t>умови скасування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715000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BE5042"/>
                </a:solidFill>
                <a:latin typeface="Aptos"/>
              </a:defRPr>
            </a:pPr>
            <a:r>
              <a:t>Слова shipping і delivery схожі, але позначають різні дії клієнта.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ПЕРШИЙ ЕТАП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Базове порівняння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91056"/>
            <a:ext cx="103327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C2C33"/>
                </a:solidFill>
                <a:latin typeface="Aptos"/>
              </a:defRPr>
            </a:pPr>
            <a:r>
              <a:t>Найпростіший варіант завжди обирає найчастішу категорію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Проста модель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4963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60520" y="2496312"/>
            <a:ext cx="1185062" cy="274320"/>
          </a:xfrm>
          <a:prstGeom prst="roundRect">
            <a:avLst/>
          </a:prstGeom>
          <a:solidFill>
            <a:srgbClr val="52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2448" y="24597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526368"/>
                </a:solidFill>
                <a:latin typeface="Aptos"/>
              </a:defRPr>
            </a:pPr>
            <a:r>
              <a:t>19.2%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Laya лише з назвами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31927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3319272"/>
            <a:ext cx="4332884" cy="274320"/>
          </a:xfrm>
          <a:prstGeom prst="roundRect">
            <a:avLst/>
          </a:prstGeom>
          <a:solidFill>
            <a:srgbClr val="127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2448" y="328269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127C81"/>
                </a:solidFill>
                <a:latin typeface="Aptos"/>
              </a:defRPr>
            </a:pPr>
            <a:r>
              <a:t>70.2%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4315968"/>
            <a:ext cx="28803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462272"/>
            <a:ext cx="258775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526368"/>
                </a:solidFill>
                <a:latin typeface="Aptos"/>
              </a:defRPr>
            </a:pPr>
            <a:r>
              <a:t>19,2%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5038344"/>
            <a:ext cx="25877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правильно у простої моделі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6" y="4315968"/>
            <a:ext cx="28803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462272"/>
            <a:ext cx="258775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27C81"/>
                </a:solidFill>
                <a:latin typeface="Aptos"/>
              </a:defRPr>
            </a:pPr>
            <a:r>
              <a:t>70,2%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038344"/>
            <a:ext cx="25877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правильно у Laya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4315968"/>
            <a:ext cx="28803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462272"/>
            <a:ext cx="258775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9EBE2A"/>
                </a:solidFill>
                <a:latin typeface="Aptos"/>
              </a:defRPr>
            </a:pPr>
            <a:r>
              <a:t>+51,0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5038344"/>
            <a:ext cx="25877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зростання точності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ПЕРШИЙ ЗАПУСК LAYA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Назви категорій давали неоднаковий результат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5819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60520" y="1581912"/>
            <a:ext cx="6011722" cy="274320"/>
          </a:xfrm>
          <a:prstGeom prst="round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15453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9EBE2A"/>
                </a:solidFill>
                <a:latin typeface="Aptos"/>
              </a:defRPr>
            </a:pPr>
            <a:r>
              <a:t>97.4%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2677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2267712"/>
            <a:ext cx="6011722" cy="274320"/>
          </a:xfrm>
          <a:prstGeom prst="round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2448" y="22311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9EBE2A"/>
                </a:solidFill>
                <a:latin typeface="Aptos"/>
              </a:defRPr>
            </a:pPr>
            <a:r>
              <a:t>97.4%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9535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2953512"/>
            <a:ext cx="4308195" cy="274320"/>
          </a:xfrm>
          <a:prstGeom prst="roundRect">
            <a:avLst/>
          </a:prstGeom>
          <a:solidFill>
            <a:srgbClr val="127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2448" y="29169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127C81"/>
                </a:solidFill>
                <a:latin typeface="Aptos"/>
              </a:defRPr>
            </a:pPr>
            <a:r>
              <a:t>69.8%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6393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60520" y="3639312"/>
            <a:ext cx="2981172" cy="274320"/>
          </a:xfrm>
          <a:prstGeom prst="roundRect">
            <a:avLst/>
          </a:prstGeom>
          <a:solidFill>
            <a:srgbClr val="BE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36027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BE5042"/>
                </a:solidFill>
                <a:latin typeface="Aptos"/>
              </a:defRPr>
            </a:pPr>
            <a:r>
              <a:t>48.3%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CANCEL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43251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0520" y="4325112"/>
            <a:ext cx="2246680" cy="274320"/>
          </a:xfrm>
          <a:prstGeom prst="roundRect">
            <a:avLst/>
          </a:prstGeom>
          <a:solidFill>
            <a:srgbClr val="BE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8" y="42885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BE5042"/>
                </a:solidFill>
                <a:latin typeface="Aptos"/>
              </a:defRPr>
            </a:pPr>
            <a:r>
              <a:t>36.4%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50109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60520" y="5010912"/>
            <a:ext cx="2012137" cy="274320"/>
          </a:xfrm>
          <a:prstGeom prst="roundRect">
            <a:avLst/>
          </a:prstGeom>
          <a:solidFill>
            <a:srgbClr val="BE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49743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BE5042"/>
                </a:solidFill>
                <a:latin typeface="Aptos"/>
              </a:defRPr>
            </a:pPr>
            <a:r>
              <a:t>32.6%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806440"/>
            <a:ext cx="101498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26368"/>
                </a:solidFill>
                <a:latin typeface="Aptos"/>
              </a:defRPr>
            </a:pPr>
            <a:r>
              <a:t>Число показує частку звернень цієї категорії, які модель знайшла правильно.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РОЗБІР ПОМИЛОК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Чому назви плутали Laya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572768"/>
            <a:ext cx="5230368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10512"/>
            <a:ext cx="1993392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65376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1810512"/>
            <a:ext cx="1993392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865376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4700016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C2C33"/>
                </a:solidFill>
                <a:latin typeface="Aptos"/>
              </a:defRPr>
            </a:pPr>
            <a:r>
              <a:t>адреса та відправлення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18688"/>
            <a:ext cx="4700016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26368"/>
                </a:solidFill>
                <a:latin typeface="Aptos"/>
              </a:defRPr>
            </a:pPr>
            <a:r>
              <a:t>Без пояснення модель часто не розуміла, де зміна адреси, а де спосіб доставки.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70832"/>
            <a:ext cx="4700016" cy="4023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BE5042"/>
                </a:solidFill>
                <a:latin typeface="Aptos"/>
              </a:defRPr>
            </a:pPr>
            <a:r>
              <a:t>32,6% і 48,3% правильно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572768"/>
            <a:ext cx="5230368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1810512"/>
            <a:ext cx="1993392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865376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1810512"/>
            <a:ext cx="1993392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865376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CANCEL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87168"/>
            <a:ext cx="4700016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C2C33"/>
                </a:solidFill>
                <a:latin typeface="Aptos"/>
              </a:defRPr>
            </a:pPr>
            <a:r>
              <a:t>акаунт та скасування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18688"/>
            <a:ext cx="4700016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26368"/>
                </a:solidFill>
                <a:latin typeface="Aptos"/>
              </a:defRPr>
            </a:pPr>
            <a:r>
              <a:t>Повідомлення про закриття або зміну підписки легко потрапляли до керування акаунтом.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70832"/>
            <a:ext cx="4700016" cy="4023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BE5042"/>
                </a:solidFill>
                <a:latin typeface="Aptos"/>
              </a:defRPr>
            </a:pPr>
            <a:r>
              <a:t>69,8% і 36,4% правильно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ЗМІНА ПІДКАЗКИ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Короткі описи уточнили межі категорій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719072"/>
            <a:ext cx="1993392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73936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572768"/>
            <a:ext cx="8156448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46504"/>
            <a:ext cx="75895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вхід, пароль, реєстрація та керування акаунтом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79776"/>
            <a:ext cx="1993392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CANCEL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633472"/>
            <a:ext cx="8156448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807208"/>
            <a:ext cx="75895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плата за скасування та правила скасування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40480"/>
            <a:ext cx="1993392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95344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694176"/>
            <a:ext cx="8156448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867912"/>
            <a:ext cx="75895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створення або зміна адреси доставки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901183"/>
            <a:ext cx="1993392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7"/>
            <a:ext cx="184708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4754879"/>
            <a:ext cx="8156448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928616"/>
            <a:ext cx="75895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C2C33"/>
                </a:solidFill>
                <a:latin typeface="Aptos"/>
              </a:defRPr>
            </a:pPr>
            <a:r>
              <a:t>строки та доступні способи доставки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916168"/>
            <a:ext cx="100584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526368"/>
                </a:solidFill>
                <a:latin typeface="Aptos"/>
              </a:defRPr>
            </a:pPr>
            <a:r>
              <a:t>Опис пояснює намір користувача, а не лише повторює назву.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ЧИСТИЙ ЕКСПЕРИМЕНТ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Однакові повідомлення, різні підказки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72768"/>
            <a:ext cx="10241280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C2C33"/>
                </a:solidFill>
                <a:latin typeface="Aptos"/>
              </a:defRPr>
            </a:pPr>
            <a:r>
              <a:t>Модель двічі отримала ті самі тексти. Змінився лише список варіантів.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05456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Лише назви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532888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60520" y="2532888"/>
            <a:ext cx="3703319" cy="274320"/>
          </a:xfrm>
          <a:prstGeom prst="roundRect">
            <a:avLst/>
          </a:prstGeom>
          <a:solidFill>
            <a:srgbClr val="52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2448" y="2496312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526368"/>
                </a:solidFill>
                <a:latin typeface="Aptos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Назви з описами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374136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3374136"/>
            <a:ext cx="5616701" cy="274320"/>
          </a:xfrm>
          <a:prstGeom prst="roundRect">
            <a:avLst/>
          </a:prstGeom>
          <a:solidFill>
            <a:srgbClr val="127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2448" y="3337560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127C81"/>
                </a:solidFill>
                <a:latin typeface="Aptos"/>
              </a:defRPr>
            </a:pPr>
            <a:r>
              <a:t>91.0%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25296" y="4389120"/>
            <a:ext cx="28346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35424"/>
            <a:ext cx="254203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9EBE2A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11496"/>
            <a:ext cx="254203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попередні помилки виправлено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4389120"/>
            <a:ext cx="28346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4535424"/>
            <a:ext cx="254203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BE50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5111496"/>
            <a:ext cx="254203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нові помилки з’явилися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389120"/>
            <a:ext cx="28346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4535424"/>
            <a:ext cx="254203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27C81"/>
                </a:solidFill>
                <a:latin typeface="Aptos"/>
              </a:defRPr>
            </a:pPr>
            <a:r>
              <a:t>+31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5111496"/>
            <a:ext cx="254203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зростання точності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ПРАКТИЧНИЙ ПРИКЛАД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Як опис виправив конкретну помилку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10149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1C2C33"/>
                </a:solidFill>
                <a:latin typeface="Aptos"/>
              </a:defRPr>
            </a:pPr>
            <a:r>
              <a:t>“I need to enter a different shipping address”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42032"/>
            <a:ext cx="461772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40690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526368"/>
                </a:solidFill>
                <a:latin typeface="Aptos"/>
              </a:defRPr>
            </a:pPr>
            <a:r>
              <a:t>Коли була лише назва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9272"/>
            <a:ext cx="40690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BE5042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13632"/>
            <a:ext cx="40690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неправильна команда</a:t>
            </a:r>
          </a:p>
        </p:txBody>
      </p:sp>
      <p:sp>
        <p:nvSpPr>
          <p:cNvPr id="10" name="Chevron 9"/>
          <p:cNvSpPr/>
          <p:nvPr/>
        </p:nvSpPr>
        <p:spPr>
          <a:xfrm>
            <a:off x="5769864" y="3255264"/>
            <a:ext cx="658368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93408" y="2542032"/>
            <a:ext cx="4617720" cy="1993392"/>
          </a:xfrm>
          <a:prstGeom prst="roundRect">
            <a:avLst/>
          </a:prstGeom>
          <a:solidFill>
            <a:srgbClr val="E5EFEB"/>
          </a:solidFill>
          <a:ln w="10160">
            <a:solidFill>
              <a:srgbClr val="E5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788920"/>
            <a:ext cx="40690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7C81"/>
                </a:solidFill>
                <a:latin typeface="Aptos"/>
              </a:defRPr>
            </a:pPr>
            <a:r>
              <a:t>Коли додали опис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3319272"/>
            <a:ext cx="406908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127C81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3913632"/>
            <a:ext cx="40690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правильна 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5120640"/>
            <a:ext cx="996696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9EBE2A"/>
                </a:solidFill>
                <a:latin typeface="Aptos"/>
              </a:defRPr>
            </a:pPr>
            <a:r>
              <a:t>Фраза «зміна адреси» у поясненні дала моделі потрібний контекст.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ОСНОВНИЙ РЕЗУЛЬТАТ LAYA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Перевірка на нових повідомленнях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149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C2C33"/>
                </a:solidFill>
                <a:latin typeface="Aptos"/>
              </a:defRPr>
            </a:pPr>
            <a:r>
              <a:t>Після підбору описів модель отримала іншу відкладену частину даних.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Проста модель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49631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60520" y="2496312"/>
            <a:ext cx="1345539" cy="274320"/>
          </a:xfrm>
          <a:prstGeom prst="roundRect">
            <a:avLst/>
          </a:prstGeom>
          <a:solidFill>
            <a:srgbClr val="52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2448" y="245973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526368"/>
                </a:solidFill>
                <a:latin typeface="Aptos"/>
              </a:defRPr>
            </a:pPr>
            <a:r>
              <a:t>21.8%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Laya з описами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337560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3337560"/>
            <a:ext cx="5789523" cy="274320"/>
          </a:xfrm>
          <a:prstGeom prst="roundRect">
            <a:avLst/>
          </a:prstGeom>
          <a:solidFill>
            <a:srgbClr val="127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2448" y="3300984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127C81"/>
                </a:solidFill>
                <a:latin typeface="Aptos"/>
              </a:defRPr>
            </a:pPr>
            <a:r>
              <a:t>93.8%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370832"/>
            <a:ext cx="281635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0744" y="4517136"/>
            <a:ext cx="2523744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27C81"/>
                </a:solidFill>
                <a:latin typeface="Aptos"/>
              </a:defRPr>
            </a:pPr>
            <a:r>
              <a:t>93,8%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5093208"/>
            <a:ext cx="25237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правильних відповідей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0872" y="4370832"/>
            <a:ext cx="281635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4517136"/>
            <a:ext cx="2523744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9EBE2A"/>
                </a:solidFill>
                <a:latin typeface="Aptos"/>
              </a:defRPr>
            </a:pPr>
            <a:r>
              <a:t>+72,0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5093208"/>
            <a:ext cx="25237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зростання точності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4370832"/>
            <a:ext cx="281635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4517136"/>
            <a:ext cx="2523744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BE5042"/>
                </a:solidFill>
                <a:latin typeface="Aptos"/>
              </a:defRPr>
            </a:pPr>
            <a:r>
              <a:t>6,2%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5093208"/>
            <a:ext cx="25237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помилкових відповідей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АНАЛІЗ НОВОГО ТЕСТУ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Де Laya ще помилялася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27632"/>
            <a:ext cx="5175504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56232"/>
            <a:ext cx="187451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7" name="Chevron 6"/>
          <p:cNvSpPr/>
          <p:nvPr/>
        </p:nvSpPr>
        <p:spPr>
          <a:xfrm>
            <a:off x="2926079" y="1883664"/>
            <a:ext cx="530352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56232"/>
            <a:ext cx="202996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E5042"/>
                </a:solidFill>
                <a:latin typeface="Aptos"/>
              </a:defRPr>
            </a:pPr>
            <a:r>
              <a:t>CANCEL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505456"/>
            <a:ext cx="4736592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7 випадків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627632"/>
            <a:ext cx="5175504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56232"/>
            <a:ext cx="187451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12" name="Chevron 11"/>
          <p:cNvSpPr/>
          <p:nvPr/>
        </p:nvSpPr>
        <p:spPr>
          <a:xfrm>
            <a:off x="8449056" y="1883664"/>
            <a:ext cx="530352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02996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E5042"/>
                </a:solidFill>
                <a:latin typeface="Aptos"/>
              </a:defRPr>
            </a:pPr>
            <a:r>
              <a:t>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05456"/>
            <a:ext cx="4736592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7 випадків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02152"/>
            <a:ext cx="5175504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730752"/>
            <a:ext cx="187451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17" name="Chevron 16"/>
          <p:cNvSpPr/>
          <p:nvPr/>
        </p:nvSpPr>
        <p:spPr>
          <a:xfrm>
            <a:off x="2926079" y="3758184"/>
            <a:ext cx="530352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730752"/>
            <a:ext cx="202996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E5042"/>
                </a:solidFill>
                <a:latin typeface="Aptos"/>
              </a:defRPr>
            </a:pPr>
            <a:r>
              <a:t>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379976"/>
            <a:ext cx="4736592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6 випадків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502152"/>
            <a:ext cx="5175504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30752"/>
            <a:ext cx="1874519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C2C33"/>
                </a:solidFill>
                <a:latin typeface="Aptos"/>
              </a:defRPr>
            </a:pPr>
            <a:r>
              <a:t>REFUND</a:t>
            </a:r>
          </a:p>
        </p:txBody>
      </p:sp>
      <p:sp>
        <p:nvSpPr>
          <p:cNvPr id="22" name="Chevron 21"/>
          <p:cNvSpPr/>
          <p:nvPr/>
        </p:nvSpPr>
        <p:spPr>
          <a:xfrm>
            <a:off x="8449056" y="3758184"/>
            <a:ext cx="530352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3730752"/>
            <a:ext cx="202996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E5042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79976"/>
            <a:ext cx="4736592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2 випадки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41264"/>
            <a:ext cx="1014984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BE5042"/>
                </a:solidFill>
                <a:latin typeface="Aptos"/>
              </a:defRPr>
            </a:pPr>
            <a:r>
              <a:t>Найбільше помилок залишилося між категоріями про акаунт, скасування та підписку.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ЗАСТОСУВАННЯ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Практичне правило для маршрутизації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72768"/>
            <a:ext cx="10058400" cy="49377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C2C33"/>
                </a:solidFill>
                <a:latin typeface="Aptos"/>
              </a:defRPr>
            </a:pPr>
            <a:r>
              <a:t>Результат Laya можна використати як перший крок обробки звернення.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542032"/>
            <a:ext cx="2340864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99616" y="2724912"/>
            <a:ext cx="749808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2779776"/>
            <a:ext cx="603503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197510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Нове повідомлення</a:t>
            </a:r>
          </a:p>
        </p:txBody>
      </p:sp>
      <p:sp>
        <p:nvSpPr>
          <p:cNvPr id="10" name="Chevron 9"/>
          <p:cNvSpPr/>
          <p:nvPr/>
        </p:nvSpPr>
        <p:spPr>
          <a:xfrm>
            <a:off x="3145536" y="2990088"/>
            <a:ext cx="438912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542032"/>
            <a:ext cx="2340864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2544" y="2724912"/>
            <a:ext cx="749808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779776"/>
            <a:ext cx="603503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01568"/>
            <a:ext cx="197510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Laya читає текст</a:t>
            </a:r>
          </a:p>
        </p:txBody>
      </p:sp>
      <p:sp>
        <p:nvSpPr>
          <p:cNvPr id="15" name="Chevron 14"/>
          <p:cNvSpPr/>
          <p:nvPr/>
        </p:nvSpPr>
        <p:spPr>
          <a:xfrm>
            <a:off x="5998464" y="2990088"/>
            <a:ext cx="438912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9088" y="2542032"/>
            <a:ext cx="2340864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05472" y="2724912"/>
            <a:ext cx="749808" cy="384048"/>
          </a:xfrm>
          <a:prstGeom prst="roundRect">
            <a:avLst/>
          </a:prstGeom>
          <a:solidFill>
            <a:srgbClr val="127C81"/>
          </a:solidFill>
          <a:ln w="10160">
            <a:solidFill>
              <a:srgbClr val="127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24" y="2779776"/>
            <a:ext cx="603503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401568"/>
            <a:ext cx="197510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Категорія зрозуміла</a:t>
            </a:r>
          </a:p>
        </p:txBody>
      </p:sp>
      <p:sp>
        <p:nvSpPr>
          <p:cNvPr id="20" name="Chevron 19"/>
          <p:cNvSpPr/>
          <p:nvPr/>
        </p:nvSpPr>
        <p:spPr>
          <a:xfrm>
            <a:off x="8851392" y="2990088"/>
            <a:ext cx="438912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72015" y="2542032"/>
            <a:ext cx="2340864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399" y="2724912"/>
            <a:ext cx="749808" cy="384048"/>
          </a:xfrm>
          <a:prstGeom prst="roundRect">
            <a:avLst/>
          </a:prstGeom>
          <a:solidFill>
            <a:srgbClr val="9EBE2A"/>
          </a:solidFill>
          <a:ln w="10160">
            <a:solidFill>
              <a:srgbClr val="9EB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1551" y="2779776"/>
            <a:ext cx="603503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5" y="3401568"/>
            <a:ext cx="197510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Передача команді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52144" y="4736592"/>
            <a:ext cx="9838944" cy="914400"/>
          </a:xfrm>
          <a:prstGeom prst="roundRect">
            <a:avLst/>
          </a:prstGeom>
          <a:solidFill>
            <a:srgbClr val="E5EFEB"/>
          </a:solidFill>
          <a:ln w="10160">
            <a:solidFill>
              <a:srgbClr val="E5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6464" y="4965192"/>
            <a:ext cx="9290304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27C81"/>
                </a:solidFill>
                <a:latin typeface="Aptos"/>
              </a:defRPr>
            </a:pPr>
            <a:r>
              <a:t>Якщо текст неоднозначний, звернення потрібно передати людині для перевірки.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ДОДАТКОВИЙ ДОСЛІД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Spark дав незалежну перевірку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10378440" cy="7863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C2C33"/>
                </a:solidFill>
                <a:latin typeface="Aptos"/>
              </a:defRPr>
            </a:pPr>
            <a:r>
              <a:t>Після дослідів з Laya ми навчили простішу модель Spark на словах із позначених звернень.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706624"/>
            <a:ext cx="2944368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2432304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7C81"/>
                </a:solidFill>
                <a:latin typeface="Aptos"/>
              </a:defRPr>
            </a:pPr>
            <a:r>
              <a:t>Текст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47872"/>
            <a:ext cx="2432304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C2C33"/>
                </a:solidFill>
                <a:latin typeface="Aptos"/>
              </a:defRPr>
            </a:pPr>
            <a:r>
              <a:t>слова звернення</a:t>
            </a:r>
          </a:p>
        </p:txBody>
      </p:sp>
      <p:sp>
        <p:nvSpPr>
          <p:cNvPr id="9" name="Chevron 8"/>
          <p:cNvSpPr/>
          <p:nvPr/>
        </p:nvSpPr>
        <p:spPr>
          <a:xfrm>
            <a:off x="4160520" y="3337560"/>
            <a:ext cx="658368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02352" y="2706624"/>
            <a:ext cx="2944368" cy="1874519"/>
          </a:xfrm>
          <a:prstGeom prst="roundRect">
            <a:avLst/>
          </a:prstGeom>
          <a:solidFill>
            <a:srgbClr val="E5EFEB"/>
          </a:solidFill>
          <a:ln w="10160">
            <a:solidFill>
              <a:srgbClr val="E5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4" y="2971800"/>
            <a:ext cx="2432304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9EBE2A"/>
                </a:solidFill>
                <a:latin typeface="Aptos"/>
              </a:defRPr>
            </a:pPr>
            <a:r>
              <a:t>Навчання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4" y="3547872"/>
            <a:ext cx="2432304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C2C33"/>
                </a:solidFill>
                <a:latin typeface="Aptos"/>
              </a:defRPr>
            </a:pPr>
            <a:r>
              <a:t>відомі приклади</a:t>
            </a:r>
          </a:p>
        </p:txBody>
      </p:sp>
      <p:sp>
        <p:nvSpPr>
          <p:cNvPr id="13" name="Chevron 12"/>
          <p:cNvSpPr/>
          <p:nvPr/>
        </p:nvSpPr>
        <p:spPr>
          <a:xfrm>
            <a:off x="8330183" y="3337560"/>
            <a:ext cx="658368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72016" y="2706624"/>
            <a:ext cx="199339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971800"/>
            <a:ext cx="1517904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7C81"/>
                </a:solidFill>
                <a:latin typeface="Aptos"/>
              </a:defRPr>
            </a:pPr>
            <a:r>
              <a:t>Вихід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547872"/>
            <a:ext cx="1517904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C2C33"/>
                </a:solidFill>
                <a:latin typeface="Aptos"/>
              </a:defRPr>
            </a:pPr>
            <a:r>
              <a:t>категорія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48656"/>
            <a:ext cx="100584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526368"/>
                </a:solidFill>
                <a:latin typeface="Aptos"/>
              </a:defRPr>
            </a:pPr>
            <a:r>
              <a:t>Цей етап перевірив, наскільки легко дані вивчаються з готовими мітками.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РЕЗУЛЬТАТ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На знайомих темах Spark майже не помилявся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Проста модель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874519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60520" y="1874519"/>
            <a:ext cx="1327022" cy="274320"/>
          </a:xfrm>
          <a:prstGeom prst="roundRect">
            <a:avLst/>
          </a:prstGeom>
          <a:solidFill>
            <a:srgbClr val="52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1837944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526368"/>
                </a:solidFill>
                <a:latin typeface="Aptos"/>
              </a:defRPr>
            </a:pPr>
            <a:r>
              <a:t>21.5%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Модель Spark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843784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2843784"/>
            <a:ext cx="6164176" cy="274320"/>
          </a:xfrm>
          <a:prstGeom prst="round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2448" y="2807208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9EBE2A"/>
                </a:solidFill>
                <a:latin typeface="Aptos"/>
              </a:defRPr>
            </a:pPr>
            <a:r>
              <a:t>99.9%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98448" y="4023360"/>
            <a:ext cx="27889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1" y="4169664"/>
            <a:ext cx="249631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9EBE2A"/>
                </a:solidFill>
                <a:latin typeface="Aptos"/>
              </a:defRPr>
            </a:pPr>
            <a:r>
              <a:t>99,9%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1" y="4745736"/>
            <a:ext cx="249631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правильних відповідей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16" y="4023360"/>
            <a:ext cx="27889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169664"/>
            <a:ext cx="249631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BE5042"/>
                </a:solidFill>
                <a:latin typeface="Aptos"/>
              </a:defRPr>
            </a:pPr>
            <a:r>
              <a:t>0,1%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745736"/>
            <a:ext cx="249631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помилкових відповідей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4023360"/>
            <a:ext cx="27889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4169664"/>
            <a:ext cx="249631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27C81"/>
                </a:solidFill>
                <a:latin typeface="Aptos"/>
              </a:defRPr>
            </a:pPr>
            <a:r>
              <a:t>+78,4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4745736"/>
            <a:ext cx="249631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зростання точності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641848"/>
            <a:ext cx="10058400" cy="4023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526368"/>
                </a:solidFill>
                <a:latin typeface="Aptos"/>
              </a:defRPr>
            </a:pPr>
            <a:r>
              <a:t>Високий результат означає, що знайомі шаблони добре розділяються за словами.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СКЛАДНІША ПЕРЕВІРКА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Нові наміри виявили слабке місце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54480"/>
            <a:ext cx="1014984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C2C33"/>
                </a:solidFill>
                <a:latin typeface="Aptos"/>
              </a:defRPr>
            </a:pPr>
            <a:r>
              <a:t>З навчання прибрали окремі підтеми, а потім показали їх моделі.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Знайомі теми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587751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60520" y="2587751"/>
            <a:ext cx="6164176" cy="274320"/>
          </a:xfrm>
          <a:prstGeom prst="round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2448" y="255117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9EBE2A"/>
                </a:solidFill>
                <a:latin typeface="Aptos"/>
              </a:defRPr>
            </a:pPr>
            <a:r>
              <a:t>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C2C33"/>
                </a:solidFill>
                <a:latin typeface="Aptos"/>
              </a:defRPr>
            </a:pPr>
            <a:r>
              <a:t>Нові підтеми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456432"/>
            <a:ext cx="6172199" cy="274320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EE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3456432"/>
            <a:ext cx="3857624" cy="274320"/>
          </a:xfrm>
          <a:prstGeom prst="roundRect">
            <a:avLst/>
          </a:prstGeom>
          <a:solidFill>
            <a:srgbClr val="BE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2448" y="3419856"/>
            <a:ext cx="713232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BE5042"/>
                </a:solidFill>
                <a:latin typeface="Aptos"/>
              </a:defRPr>
            </a:pPr>
            <a:r>
              <a:t>62.5%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38528" y="4526280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4672584"/>
            <a:ext cx="304495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9EBE2A"/>
                </a:solidFill>
                <a:latin typeface="Aptos"/>
              </a:defRPr>
            </a:pPr>
            <a:r>
              <a:t>99,9%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5248656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коли приклади знайомі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2864" y="4526280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4672584"/>
            <a:ext cx="3044952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BE5042"/>
                </a:solidFill>
                <a:latin typeface="Aptos"/>
              </a:defRPr>
            </a:pPr>
            <a:r>
              <a:t>62,5%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5248656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C2C33"/>
                </a:solidFill>
                <a:latin typeface="Aptos"/>
              </a:defRPr>
            </a:pPr>
            <a:r>
              <a:t>коли намір новий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ЩЕ ОДИН ПРАКТИЧНИЙ ДОСЛІД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Перефразування теж змінює результат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72768"/>
            <a:ext cx="1005840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C2C33"/>
                </a:solidFill>
                <a:latin typeface="Aptos"/>
              </a:defRPr>
            </a:pPr>
            <a:r>
              <a:t>Той самий зміст було переписано іншими словами.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" y="2432304"/>
            <a:ext cx="461772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724912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27C81"/>
                </a:solidFill>
                <a:latin typeface="Aptos"/>
              </a:defRPr>
            </a:pPr>
            <a:r>
              <a:t>Оригінальні фрази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383280"/>
            <a:ext cx="4023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9EBE2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09651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правильно</a:t>
            </a:r>
          </a:p>
        </p:txBody>
      </p:sp>
      <p:sp>
        <p:nvSpPr>
          <p:cNvPr id="10" name="Chevron 9"/>
          <p:cNvSpPr/>
          <p:nvPr/>
        </p:nvSpPr>
        <p:spPr>
          <a:xfrm>
            <a:off x="5769864" y="3246120"/>
            <a:ext cx="658368" cy="566928"/>
          </a:xfrm>
          <a:prstGeom prst="chevron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93408" y="2432304"/>
            <a:ext cx="4617720" cy="2240280"/>
          </a:xfrm>
          <a:prstGeom prst="roundRect">
            <a:avLst/>
          </a:prstGeom>
          <a:solidFill>
            <a:srgbClr val="E5EFEB"/>
          </a:solidFill>
          <a:ln w="10160">
            <a:solidFill>
              <a:srgbClr val="E5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016" y="2724912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27C81"/>
                </a:solidFill>
                <a:latin typeface="Aptos"/>
              </a:defRPr>
            </a:pPr>
            <a:r>
              <a:t>Перефразовані фрази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016" y="3383280"/>
            <a:ext cx="4023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7C81"/>
                </a:solidFill>
                <a:latin typeface="Aptos"/>
              </a:defRPr>
            </a:pPr>
            <a:r>
              <a:t>92,6%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409651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526368"/>
                </a:solidFill>
                <a:latin typeface="Aptos"/>
              </a:defRPr>
            </a:pPr>
            <a:r>
              <a:t>правильно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5257800"/>
            <a:ext cx="100126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BE5042"/>
                </a:solidFill>
                <a:latin typeface="Aptos"/>
              </a:defRPr>
            </a:pPr>
            <a:r>
              <a:t>Навіть правильний зміст може стати складнішим після зміни формулювання.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27C81"/>
                </a:solidFill>
                <a:latin typeface="Aptos"/>
              </a:defRPr>
            </a:pPr>
            <a:r>
              <a:t>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8136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C2C33"/>
                </a:solidFill>
                <a:latin typeface="Aptos"/>
              </a:defRPr>
            </a:pPr>
            <a:r>
              <a:t>Що показало дослідження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863072" cy="36576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64208"/>
            <a:ext cx="3419856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38528"/>
            <a:ext cx="3017520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27C81"/>
                </a:solidFill>
                <a:latin typeface="Aptos"/>
              </a:defRPr>
            </a:pPr>
            <a:r>
              <a:t>70,2%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88336"/>
            <a:ext cx="287121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Laya лише з назвами категорій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664208"/>
            <a:ext cx="3419856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938528"/>
            <a:ext cx="3017520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9EBE2A"/>
                </a:solidFill>
                <a:latin typeface="Aptos"/>
              </a:defRPr>
            </a:pPr>
            <a:r>
              <a:t>93,8%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1" y="2688336"/>
            <a:ext cx="287121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Laya з короткими описами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664208"/>
            <a:ext cx="3419856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1938528"/>
            <a:ext cx="3017520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BE5042"/>
                </a:solidFill>
                <a:latin typeface="Aptos"/>
              </a:defRPr>
            </a:pPr>
            <a:r>
              <a:t>62,5%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224" y="2688336"/>
            <a:ext cx="287121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C2C33"/>
                </a:solidFill>
                <a:latin typeface="Aptos"/>
              </a:defRPr>
            </a:pPr>
            <a:r>
              <a:t>Spark на нових підтемах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50791"/>
            <a:ext cx="10149840" cy="6766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C2C33"/>
                </a:solidFill>
                <a:latin typeface="Aptos"/>
              </a:defRPr>
            </a:pPr>
            <a:r>
              <a:t>Описи категорій дали Laya корисний контекст, але якість треба перевіряти на нових намірах і нових формулюваннях.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5120640"/>
            <a:ext cx="8439912" cy="841248"/>
          </a:xfrm>
          <a:prstGeom prst="roundRect">
            <a:avLst/>
          </a:prstGeom>
          <a:solidFill>
            <a:srgbClr val="E5EFEB"/>
          </a:solidFill>
          <a:ln w="10160">
            <a:solidFill>
              <a:srgbClr val="E5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9696" y="5330952"/>
            <a:ext cx="79095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27C81"/>
                </a:solidFill>
                <a:latin typeface="Aptos"/>
              </a:defRPr>
            </a:pPr>
            <a:r>
              <a:t>Демонстрація: дані, запуск Laya, результати та помилки у notebook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85216"/>
            <a:ext cx="10881360" cy="5650992"/>
          </a:xfrm>
          <a:prstGeom prst="roundRect">
            <a:avLst/>
          </a:prstGeom>
          <a:solidFill>
            <a:srgbClr val="214247"/>
          </a:solidFill>
          <a:ln w="10160">
            <a:solidFill>
              <a:srgbClr val="214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1060704"/>
            <a:ext cx="98755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9EBE2A"/>
                </a:solidFill>
                <a:latin typeface="Aptos"/>
              </a:defRPr>
            </a:pPr>
            <a:r>
              <a:t>КЛАСИФІКАЦІЯ ЗВЕРНЕНЬ З LAYA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993392"/>
            <a:ext cx="9875520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Дякую за увагу!</a:t>
            </a:r>
          </a:p>
        </p:txBody>
      </p:sp>
      <p:sp>
        <p:nvSpPr>
          <p:cNvPr id="5" name="Rectangle 4"/>
          <p:cNvSpPr/>
          <p:nvPr/>
        </p:nvSpPr>
        <p:spPr>
          <a:xfrm>
            <a:off x="4736592" y="3127248"/>
            <a:ext cx="2743200" cy="54864"/>
          </a:xfrm>
          <a:prstGeom prst="rect">
            <a:avLst/>
          </a:prstGeom>
          <a:solidFill>
            <a:srgbClr val="9EB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75887"/>
            <a:ext cx="98755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E0EAE7"/>
                </a:solidFill>
                <a:latin typeface="Aptos"/>
              </a:defRPr>
            </a:pPr>
            <a:r>
              <a:t>Запитання?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